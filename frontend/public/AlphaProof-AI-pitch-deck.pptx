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w9dnf+pind6Ki7XMuefhU3f2D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3" name="Google Shape;18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8" name="Google Shape;25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7" name="Google Shape;3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2" name="Google Shape;3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4" name="Google Shape;44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2" name="Google Shape;51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4" name="Google Shape;58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1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1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1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1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1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1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1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1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1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1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1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1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6" y="666750"/>
            <a:ext cx="472877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/>
          <p:nvPr/>
        </p:nvSpPr>
        <p:spPr>
          <a:xfrm>
            <a:off x="5562600" y="838200"/>
            <a:ext cx="4572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ALPHAPROOF AI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5562600" y="1524000"/>
            <a:ext cx="59055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4950"/>
              <a:buFont typeface="Play"/>
              <a:buNone/>
            </a:pPr>
            <a:r>
              <a:rPr b="1" lang="en-US" sz="49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AI signals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4950"/>
              <a:buFont typeface="Play"/>
              <a:buNone/>
            </a:pPr>
            <a:r>
              <a:rPr b="1" lang="en-US" sz="49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with receipts.</a:t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5600700" y="3276600"/>
            <a:ext cx="4953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Proof-backed AI market signals for Mantle.</a:t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5600700" y="3905250"/>
            <a:ext cx="2324100" cy="342900"/>
          </a:xfrm>
          <a:prstGeom prst="roundRect">
            <a:avLst>
              <a:gd fmla="val 50000" name="adj"/>
            </a:avLst>
          </a:prstGeom>
          <a:solidFill>
            <a:srgbClr val="0B211A"/>
          </a:solidFill>
          <a:ln cap="flat" cmpd="sng" w="9525">
            <a:solidFill>
              <a:srgbClr val="00E0A4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5734050" y="3981450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E0A4"/>
                </a:solidFill>
                <a:latin typeface="Arial"/>
                <a:ea typeface="Arial"/>
                <a:cs typeface="Arial"/>
                <a:sym typeface="Arial"/>
              </a:rPr>
              <a:t>Mantle Sepolia proof flow</a:t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8077200" y="3905250"/>
            <a:ext cx="1543200" cy="342900"/>
          </a:xfrm>
          <a:prstGeom prst="roundRect">
            <a:avLst>
              <a:gd fmla="val 50000" name="adj"/>
            </a:avLst>
          </a:prstGeom>
          <a:solidFill>
            <a:srgbClr val="151915"/>
          </a:solidFill>
          <a:ln cap="flat" cmpd="sng" w="9525">
            <a:solidFill>
              <a:srgbClr val="FFFFFF">
                <a:alpha val="1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8210550" y="3981450"/>
            <a:ext cx="1276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Telegram alerts</a:t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5600700" y="565785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No trading · No custody · Not financial advice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2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2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2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2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2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2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2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2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2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2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2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2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2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2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2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2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2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2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2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2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2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2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2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2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2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2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2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2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2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2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85800" y="10287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85800" y="1409700"/>
            <a:ext cx="61914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Most AI market tools sound confident.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704850" y="2476500"/>
            <a:ext cx="5334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But can they prove when they made the prediction?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819900" y="1200150"/>
            <a:ext cx="4095600" cy="1981200"/>
          </a:xfrm>
          <a:prstGeom prst="roundRect">
            <a:avLst>
              <a:gd fmla="val 10000" name="adj"/>
            </a:avLst>
          </a:prstGeom>
          <a:solidFill>
            <a:srgbClr val="111815"/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086600" y="14478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AI SIGNAL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7086600" y="1809750"/>
            <a:ext cx="304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2325"/>
              <a:buFont typeface="Play"/>
              <a:buNone/>
            </a:pPr>
            <a:r>
              <a:rPr b="1" lang="en-US" sz="23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MNT volatility risk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2325"/>
              <a:buFont typeface="Play"/>
              <a:buNone/>
            </a:pPr>
            <a:r>
              <a:rPr b="1" lang="en-US" sz="23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78% confidence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086600" y="2628900"/>
            <a:ext cx="1257300" cy="342900"/>
          </a:xfrm>
          <a:prstGeom prst="roundRect">
            <a:avLst>
              <a:gd fmla="val 50000" name="adj"/>
            </a:avLst>
          </a:prstGeom>
          <a:solidFill>
            <a:srgbClr val="0B211A"/>
          </a:solidFill>
          <a:ln cap="flat" cmpd="sng" w="9525">
            <a:solidFill>
              <a:srgbClr val="00E0A4">
                <a:alpha val="2666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7219950" y="2705100"/>
            <a:ext cx="990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E0A4"/>
                </a:solidFill>
                <a:latin typeface="Arial"/>
                <a:ea typeface="Arial"/>
                <a:cs typeface="Arial"/>
                <a:sym typeface="Arial"/>
              </a:rPr>
              <a:t>Sounds smart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6819900" y="3390900"/>
            <a:ext cx="4095600" cy="2095500"/>
          </a:xfrm>
          <a:prstGeom prst="roundRect">
            <a:avLst>
              <a:gd fmla="val 10000" name="adj"/>
            </a:avLst>
          </a:prstGeom>
          <a:solidFill>
            <a:srgbClr val="160F0C"/>
          </a:solidFill>
          <a:ln cap="flat" cmpd="sng" w="9525">
            <a:solidFill>
              <a:srgbClr val="F5B85B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7086600" y="3638550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F5B85B"/>
                </a:solidFill>
                <a:latin typeface="Consolas"/>
                <a:ea typeface="Consolas"/>
                <a:cs typeface="Consolas"/>
                <a:sym typeface="Consolas"/>
              </a:rPr>
              <a:t>JUDGE QUESTION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7086600" y="3981450"/>
            <a:ext cx="31051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Was it predicted before it happened?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7086600" y="472440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Or written after the outcome was obvious?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3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3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3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3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3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3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3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3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3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3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3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3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3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3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3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3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3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3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3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3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3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3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3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3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3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3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3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3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3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3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CORE INSIGHT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685800" y="8001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CORE INSIGHT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685800" y="1181100"/>
            <a:ext cx="61914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AI agents need public track records.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704850" y="2247900"/>
            <a:ext cx="5334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Not screenshots. Not private logs. Not “trust me, I called it.” A timestamped on-chain record.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57238" y="3476625"/>
            <a:ext cx="2143200" cy="1314600"/>
          </a:xfrm>
          <a:prstGeom prst="roundRect">
            <a:avLst>
              <a:gd fmla="val 13043" name="adj"/>
            </a:avLst>
          </a:prstGeom>
          <a:solidFill>
            <a:srgbClr val="0A0F0D"/>
          </a:solidFill>
          <a:ln cap="flat" cmpd="sng" w="9525">
            <a:solidFill>
              <a:srgbClr val="00E0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990600" y="361950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Prediction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1049642" y="4038600"/>
            <a:ext cx="1657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signal + confidence</a:t>
            </a:r>
            <a:endParaRPr/>
          </a:p>
        </p:txBody>
      </p:sp>
      <p:cxnSp>
        <p:nvCxnSpPr>
          <p:cNvPr id="164" name="Google Shape;164;p3"/>
          <p:cNvCxnSpPr/>
          <p:nvPr/>
        </p:nvCxnSpPr>
        <p:spPr>
          <a:xfrm>
            <a:off x="2979937" y="4095750"/>
            <a:ext cx="447600" cy="0"/>
          </a:xfrm>
          <a:prstGeom prst="straightConnector1">
            <a:avLst/>
          </a:prstGeom>
          <a:noFill/>
          <a:ln cap="flat" cmpd="sng" w="19050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3"/>
          <p:cNvSpPr/>
          <p:nvPr/>
        </p:nvSpPr>
        <p:spPr>
          <a:xfrm rot="5400000">
            <a:off x="3428988" y="4038675"/>
            <a:ext cx="133500" cy="114300"/>
          </a:xfrm>
          <a:prstGeom prst="triangle">
            <a:avLst>
              <a:gd fmla="val 50000" name="adj"/>
            </a:avLst>
          </a:prstGeom>
          <a:solidFill>
            <a:srgbClr val="59645F"/>
          </a:solidFill>
          <a:ln cap="flat" cmpd="sng" w="9525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3617355" y="3390900"/>
            <a:ext cx="2143200" cy="1314600"/>
          </a:xfrm>
          <a:prstGeom prst="roundRect">
            <a:avLst>
              <a:gd fmla="val 13043" name="adj"/>
            </a:avLst>
          </a:prstGeom>
          <a:solidFill>
            <a:srgbClr val="161408"/>
          </a:solidFill>
          <a:ln cap="flat" cmpd="sng" w="9525">
            <a:solidFill>
              <a:srgbClr val="E6C45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3924300" y="361950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Proof Tx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3905250" y="4057650"/>
            <a:ext cx="1657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committed before outcome</a:t>
            </a:r>
            <a:endParaRPr/>
          </a:p>
        </p:txBody>
      </p:sp>
      <p:cxnSp>
        <p:nvCxnSpPr>
          <p:cNvPr id="169" name="Google Shape;169;p3"/>
          <p:cNvCxnSpPr/>
          <p:nvPr/>
        </p:nvCxnSpPr>
        <p:spPr>
          <a:xfrm>
            <a:off x="5836302" y="4095750"/>
            <a:ext cx="447600" cy="0"/>
          </a:xfrm>
          <a:prstGeom prst="straightConnector1">
            <a:avLst/>
          </a:prstGeom>
          <a:noFill/>
          <a:ln cap="flat" cmpd="sng" w="19050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3"/>
          <p:cNvSpPr/>
          <p:nvPr/>
        </p:nvSpPr>
        <p:spPr>
          <a:xfrm rot="5400000">
            <a:off x="6296707" y="4038675"/>
            <a:ext cx="133500" cy="114300"/>
          </a:xfrm>
          <a:prstGeom prst="triangle">
            <a:avLst>
              <a:gd fmla="val 50000" name="adj"/>
            </a:avLst>
          </a:prstGeom>
          <a:solidFill>
            <a:srgbClr val="59645F"/>
          </a:solidFill>
          <a:ln cap="flat" cmpd="sng" w="9525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6477000" y="3429000"/>
            <a:ext cx="2143125" cy="1314450"/>
          </a:xfrm>
          <a:prstGeom prst="roundRect">
            <a:avLst>
              <a:gd fmla="val 13043" name="adj"/>
            </a:avLst>
          </a:prstGeom>
          <a:solidFill>
            <a:srgbClr val="0A0F0D"/>
          </a:solidFill>
          <a:ln cap="flat" cmpd="sng" w="9525">
            <a:solidFill>
              <a:srgbClr val="F5B85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6705600" y="361950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Outcome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6705600" y="4038600"/>
            <a:ext cx="1657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correct / failed / inconclusive</a:t>
            </a:r>
            <a:endParaRPr/>
          </a:p>
        </p:txBody>
      </p:sp>
      <p:cxnSp>
        <p:nvCxnSpPr>
          <p:cNvPr id="174" name="Google Shape;174;p3"/>
          <p:cNvCxnSpPr/>
          <p:nvPr/>
        </p:nvCxnSpPr>
        <p:spPr>
          <a:xfrm>
            <a:off x="8715375" y="4095750"/>
            <a:ext cx="447675" cy="0"/>
          </a:xfrm>
          <a:prstGeom prst="straightConnector1">
            <a:avLst/>
          </a:prstGeom>
          <a:noFill/>
          <a:ln cap="flat" cmpd="sng" w="19050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3"/>
          <p:cNvSpPr/>
          <p:nvPr/>
        </p:nvSpPr>
        <p:spPr>
          <a:xfrm rot="5400000">
            <a:off x="9096375" y="4038600"/>
            <a:ext cx="133350" cy="114300"/>
          </a:xfrm>
          <a:prstGeom prst="triangle">
            <a:avLst>
              <a:gd fmla="val 50000" name="adj"/>
            </a:avLst>
          </a:prstGeom>
          <a:solidFill>
            <a:srgbClr val="59645F"/>
          </a:solidFill>
          <a:ln cap="flat" cmpd="sng" w="9525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9287947" y="3429000"/>
            <a:ext cx="2143200" cy="1314600"/>
          </a:xfrm>
          <a:prstGeom prst="roundRect">
            <a:avLst>
              <a:gd fmla="val 13043" name="adj"/>
            </a:avLst>
          </a:prstGeom>
          <a:solidFill>
            <a:srgbClr val="0A0F0D"/>
          </a:solidFill>
          <a:ln cap="flat" cmpd="sng" w="9525">
            <a:solidFill>
              <a:srgbClr val="00E0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9391650" y="361950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Reputation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9391650" y="4038600"/>
            <a:ext cx="1657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public score over time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1463650" y="5257725"/>
            <a:ext cx="919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E0A4"/>
                </a:solidFill>
                <a:latin typeface="Play"/>
                <a:ea typeface="Play"/>
                <a:cs typeface="Play"/>
                <a:sym typeface="Play"/>
              </a:rPr>
              <a:t>The receipt is created before the market knows who was right.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4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4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4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4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4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4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4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4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4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4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4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4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4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4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4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4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4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4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4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4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4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4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4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4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4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4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4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4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4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4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4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4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4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SOLUTION</a:t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SOLUTION</a:t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685800" y="876300"/>
            <a:ext cx="6191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2850"/>
              <a:buFont typeface="Play"/>
              <a:buNone/>
            </a:pPr>
            <a:r>
              <a:rPr b="1" lang="en-US" sz="28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Detect → Explain → Commit → Alert → Verify → Resolve</a:t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704850" y="194310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AlphaProof turns Mantle market events into proof-backed AI signals and reputational history.</a:t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800100" y="3276600"/>
            <a:ext cx="1809750" cy="1257300"/>
          </a:xfrm>
          <a:prstGeom prst="roundRect">
            <a:avLst>
              <a:gd fmla="val 12121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990600" y="3429000"/>
            <a:ext cx="4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990600" y="3733800"/>
            <a:ext cx="142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Market event</a:t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990600" y="4057650"/>
            <a:ext cx="1381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Mantle mainnet-style event</a:t>
            </a:r>
            <a:endParaRPr/>
          </a:p>
        </p:txBody>
      </p:sp>
      <p:cxnSp>
        <p:nvCxnSpPr>
          <p:cNvPr id="229" name="Google Shape;229;p4"/>
          <p:cNvCxnSpPr/>
          <p:nvPr/>
        </p:nvCxnSpPr>
        <p:spPr>
          <a:xfrm>
            <a:off x="2686050" y="3905250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4"/>
          <p:cNvSpPr/>
          <p:nvPr/>
        </p:nvSpPr>
        <p:spPr>
          <a:xfrm rot="5400000">
            <a:off x="2962275" y="3848100"/>
            <a:ext cx="133350" cy="114300"/>
          </a:xfrm>
          <a:prstGeom prst="triangle">
            <a:avLst>
              <a:gd fmla="val 50000" name="adj"/>
            </a:avLst>
          </a:prstGeom>
          <a:solidFill>
            <a:srgbClr val="59645F"/>
          </a:solidFill>
          <a:ln cap="flat" cmpd="sng" w="9525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2933700" y="3276600"/>
            <a:ext cx="1809750" cy="1257300"/>
          </a:xfrm>
          <a:prstGeom prst="roundRect">
            <a:avLst>
              <a:gd fmla="val 12121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3124200" y="3429000"/>
            <a:ext cx="4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/>
          </a:p>
        </p:txBody>
      </p:sp>
      <p:sp>
        <p:nvSpPr>
          <p:cNvPr id="233" name="Google Shape;233;p4"/>
          <p:cNvSpPr/>
          <p:nvPr/>
        </p:nvSpPr>
        <p:spPr>
          <a:xfrm>
            <a:off x="3124200" y="3733800"/>
            <a:ext cx="142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AI detects</a:t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3124200" y="4057650"/>
            <a:ext cx="1381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signal + explanation</a:t>
            </a:r>
            <a:endParaRPr/>
          </a:p>
        </p:txBody>
      </p:sp>
      <p:cxnSp>
        <p:nvCxnSpPr>
          <p:cNvPr id="235" name="Google Shape;235;p4"/>
          <p:cNvCxnSpPr/>
          <p:nvPr/>
        </p:nvCxnSpPr>
        <p:spPr>
          <a:xfrm>
            <a:off x="4819650" y="3905250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4"/>
          <p:cNvSpPr/>
          <p:nvPr/>
        </p:nvSpPr>
        <p:spPr>
          <a:xfrm rot="5400000">
            <a:off x="5095875" y="3848100"/>
            <a:ext cx="133350" cy="114300"/>
          </a:xfrm>
          <a:prstGeom prst="triangle">
            <a:avLst>
              <a:gd fmla="val 50000" name="adj"/>
            </a:avLst>
          </a:prstGeom>
          <a:solidFill>
            <a:srgbClr val="59645F"/>
          </a:solidFill>
          <a:ln cap="flat" cmpd="sng" w="9525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"/>
          <p:cNvSpPr/>
          <p:nvPr/>
        </p:nvSpPr>
        <p:spPr>
          <a:xfrm>
            <a:off x="5067300" y="3276600"/>
            <a:ext cx="1809750" cy="1257300"/>
          </a:xfrm>
          <a:prstGeom prst="roundRect">
            <a:avLst>
              <a:gd fmla="val 12121" name="adj"/>
            </a:avLst>
          </a:prstGeom>
          <a:solidFill>
            <a:srgbClr val="171608"/>
          </a:solidFill>
          <a:ln cap="flat" cmpd="sng" w="9525">
            <a:solidFill>
              <a:srgbClr val="E6C45A">
                <a:alpha val="4666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5257800" y="3429000"/>
            <a:ext cx="4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6C45A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/>
          </a:p>
        </p:txBody>
      </p:sp>
      <p:sp>
        <p:nvSpPr>
          <p:cNvPr id="239" name="Google Shape;239;p4"/>
          <p:cNvSpPr/>
          <p:nvPr/>
        </p:nvSpPr>
        <p:spPr>
          <a:xfrm>
            <a:off x="5257800" y="3733800"/>
            <a:ext cx="142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Commit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5257800" y="4057650"/>
            <a:ext cx="1313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hashes on Mantle Sepolia</a:t>
            </a:r>
            <a:endParaRPr/>
          </a:p>
        </p:txBody>
      </p:sp>
      <p:cxnSp>
        <p:nvCxnSpPr>
          <p:cNvPr id="241" name="Google Shape;241;p4"/>
          <p:cNvCxnSpPr/>
          <p:nvPr/>
        </p:nvCxnSpPr>
        <p:spPr>
          <a:xfrm>
            <a:off x="6953250" y="3905250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4"/>
          <p:cNvSpPr/>
          <p:nvPr/>
        </p:nvSpPr>
        <p:spPr>
          <a:xfrm rot="5400000">
            <a:off x="7229475" y="3848100"/>
            <a:ext cx="133350" cy="114300"/>
          </a:xfrm>
          <a:prstGeom prst="triangle">
            <a:avLst>
              <a:gd fmla="val 50000" name="adj"/>
            </a:avLst>
          </a:prstGeom>
          <a:solidFill>
            <a:srgbClr val="59645F"/>
          </a:solidFill>
          <a:ln cap="flat" cmpd="sng" w="9525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7200900" y="3276600"/>
            <a:ext cx="1809750" cy="1257300"/>
          </a:xfrm>
          <a:prstGeom prst="roundRect">
            <a:avLst>
              <a:gd fmla="val 12121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7391400" y="3429000"/>
            <a:ext cx="4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7391400" y="3733800"/>
            <a:ext cx="142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Alert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7391400" y="4057650"/>
            <a:ext cx="1381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Telegram receipt</a:t>
            </a:r>
            <a:endParaRPr/>
          </a:p>
        </p:txBody>
      </p:sp>
      <p:cxnSp>
        <p:nvCxnSpPr>
          <p:cNvPr id="247" name="Google Shape;247;p4"/>
          <p:cNvCxnSpPr/>
          <p:nvPr/>
        </p:nvCxnSpPr>
        <p:spPr>
          <a:xfrm>
            <a:off x="9086850" y="3905250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4"/>
          <p:cNvSpPr/>
          <p:nvPr/>
        </p:nvSpPr>
        <p:spPr>
          <a:xfrm rot="5400000">
            <a:off x="9363075" y="3848100"/>
            <a:ext cx="133350" cy="114300"/>
          </a:xfrm>
          <a:prstGeom prst="triangle">
            <a:avLst>
              <a:gd fmla="val 50000" name="adj"/>
            </a:avLst>
          </a:prstGeom>
          <a:solidFill>
            <a:srgbClr val="59645F"/>
          </a:solidFill>
          <a:ln cap="flat" cmpd="sng" w="9525">
            <a:solidFill>
              <a:srgbClr val="596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9334500" y="3276600"/>
            <a:ext cx="1809750" cy="1257300"/>
          </a:xfrm>
          <a:prstGeom prst="roundRect">
            <a:avLst>
              <a:gd fmla="val 12121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9525000" y="3429000"/>
            <a:ext cx="4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/>
          </a:p>
        </p:txBody>
      </p:sp>
      <p:sp>
        <p:nvSpPr>
          <p:cNvPr id="251" name="Google Shape;251;p4"/>
          <p:cNvSpPr/>
          <p:nvPr/>
        </p:nvSpPr>
        <p:spPr>
          <a:xfrm>
            <a:off x="9525000" y="3733800"/>
            <a:ext cx="142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Resolve</a:t>
            </a: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9525000" y="4057650"/>
            <a:ext cx="1381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outcome -&gt; reputation</a:t>
            </a:r>
            <a:endParaRPr/>
          </a:p>
        </p:txBody>
      </p:sp>
      <p:sp>
        <p:nvSpPr>
          <p:cNvPr id="253" name="Google Shape;253;p4"/>
          <p:cNvSpPr/>
          <p:nvPr/>
        </p:nvSpPr>
        <p:spPr>
          <a:xfrm>
            <a:off x="1576500" y="5049975"/>
            <a:ext cx="8743800" cy="777600"/>
          </a:xfrm>
          <a:prstGeom prst="roundRect">
            <a:avLst>
              <a:gd fmla="val 22222" name="adj"/>
            </a:avLst>
          </a:prstGeom>
          <a:solidFill>
            <a:srgbClr val="071711"/>
          </a:solidFill>
          <a:ln cap="flat" cmpd="sng" w="9525">
            <a:solidFill>
              <a:srgbClr val="00E0A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1876800" y="5324475"/>
            <a:ext cx="819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E0A4"/>
                </a:solidFill>
                <a:latin typeface="Arial"/>
                <a:ea typeface="Arial"/>
                <a:cs typeface="Arial"/>
                <a:sym typeface="Arial"/>
              </a:rPr>
              <a:t>Main demo mode: historical Mantle mainnet-style events + Mantle Sepolia proof transactions.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5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5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5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5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5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5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5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5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5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5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5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5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5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5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5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5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5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5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5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5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5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5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5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5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5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5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5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5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5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5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5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5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5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5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5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USER EXPERIENCE</a:t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USER EXPERIENCE</a:t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685800" y="876300"/>
            <a:ext cx="6191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Built for users, not dashboards.</a:t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704850" y="194310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No wallet connection required to receive alerts. The user gets a simple Telegram receipt and can open the proof tx.</a:t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7315200" y="1170588"/>
            <a:ext cx="4121400" cy="2535600"/>
          </a:xfrm>
          <a:prstGeom prst="roundRect">
            <a:avLst>
              <a:gd fmla="val 6040" name="adj"/>
            </a:avLst>
          </a:prstGeom>
          <a:solidFill>
            <a:srgbClr val="050807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5"/>
          <p:cNvPicPr preferRelativeResize="0"/>
          <p:nvPr/>
        </p:nvPicPr>
        <p:blipFill rotWithShape="1">
          <a:blip r:embed="rId3">
            <a:alphaModFix/>
          </a:blip>
          <a:srcRect b="493" l="0" r="0" t="493"/>
          <a:stretch/>
        </p:blipFill>
        <p:spPr>
          <a:xfrm>
            <a:off x="7562850" y="1427848"/>
            <a:ext cx="3583200" cy="2021100"/>
          </a:xfrm>
          <a:prstGeom prst="roundRect">
            <a:avLst>
              <a:gd fmla="val 4965" name="adj"/>
            </a:avLst>
          </a:prstGeom>
          <a:noFill/>
          <a:ln>
            <a:noFill/>
          </a:ln>
        </p:spPr>
      </p:pic>
      <p:sp>
        <p:nvSpPr>
          <p:cNvPr id="302" name="Google Shape;302;p5"/>
          <p:cNvSpPr/>
          <p:nvPr/>
        </p:nvSpPr>
        <p:spPr>
          <a:xfrm>
            <a:off x="1352550" y="2724150"/>
            <a:ext cx="3676650" cy="2857500"/>
          </a:xfrm>
          <a:prstGeom prst="roundRect">
            <a:avLst>
              <a:gd fmla="val 7333" name="adj"/>
            </a:avLst>
          </a:prstGeom>
          <a:solidFill>
            <a:srgbClr val="101715"/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dir="5400000" dist="5715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1619250" y="2933700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Telegram</a:t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1619250" y="3314700"/>
            <a:ext cx="3143250" cy="1981200"/>
          </a:xfrm>
          <a:prstGeom prst="roundRect">
            <a:avLst>
              <a:gd fmla="val 7692" name="adj"/>
            </a:avLst>
          </a:prstGeom>
          <a:solidFill>
            <a:srgbClr val="17211D"/>
          </a:solidFill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1828800" y="3524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AlphaProof Signal</a:t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1828800" y="39052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E0A4"/>
                </a:solidFill>
                <a:latin typeface="Arial"/>
                <a:ea typeface="Arial"/>
                <a:cs typeface="Arial"/>
                <a:sym typeface="Arial"/>
              </a:rPr>
              <a:t>Liquidity Shock detected</a:t>
            </a:r>
            <a:endParaRPr/>
          </a:p>
        </p:txBody>
      </p:sp>
      <p:sp>
        <p:nvSpPr>
          <p:cNvPr id="307" name="Google Shape;307;p5"/>
          <p:cNvSpPr/>
          <p:nvPr/>
        </p:nvSpPr>
        <p:spPr>
          <a:xfrm>
            <a:off x="1828800" y="4191000"/>
            <a:ext cx="295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050"/>
              <a:buFont typeface="Consolas"/>
              <a:buNone/>
            </a:pPr>
            <a:r>
              <a:rPr b="0" lang="en-US" sz="105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Pair: MNT/USDC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050"/>
              <a:buFont typeface="Consolas"/>
              <a:buNone/>
            </a:pPr>
            <a:r>
              <a:rPr b="0" lang="en-US" sz="105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Confidence: 82%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050"/>
              <a:buFont typeface="Consolas"/>
              <a:buNone/>
            </a:pPr>
            <a:r>
              <a:rPr b="0" lang="en-US" sz="105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Proof: 0x8fa14c...c3bd</a:t>
            </a:r>
            <a:endParaRPr/>
          </a:p>
        </p:txBody>
      </p:sp>
      <p:sp>
        <p:nvSpPr>
          <p:cNvPr id="308" name="Google Shape;308;p5"/>
          <p:cNvSpPr/>
          <p:nvPr/>
        </p:nvSpPr>
        <p:spPr>
          <a:xfrm>
            <a:off x="1828800" y="5048250"/>
            <a:ext cx="1352550" cy="342900"/>
          </a:xfrm>
          <a:prstGeom prst="roundRect">
            <a:avLst>
              <a:gd fmla="val 50000" name="adj"/>
            </a:avLst>
          </a:prstGeom>
          <a:solidFill>
            <a:srgbClr val="E6C45A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"/>
          <p:cNvSpPr/>
          <p:nvPr/>
        </p:nvSpPr>
        <p:spPr>
          <a:xfrm>
            <a:off x="1962150" y="5124450"/>
            <a:ext cx="1085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Open Proof Tx</a:t>
            </a: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3314700" y="5048250"/>
            <a:ext cx="1143000" cy="342900"/>
          </a:xfrm>
          <a:prstGeom prst="roundRect">
            <a:avLst>
              <a:gd fmla="val 50000" name="adj"/>
            </a:avLst>
          </a:prstGeom>
          <a:solidFill>
            <a:srgbClr val="0B211A"/>
          </a:solidFill>
          <a:ln cap="flat" cmpd="sng" w="9525">
            <a:solidFill>
              <a:srgbClr val="00E0A4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3448050" y="5124450"/>
            <a:ext cx="876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E0A4"/>
                </a:solidFill>
                <a:latin typeface="Arial"/>
                <a:ea typeface="Arial"/>
                <a:cs typeface="Arial"/>
                <a:sym typeface="Arial"/>
              </a:rPr>
              <a:t>View Signal</a:t>
            </a:r>
            <a:endParaRPr/>
          </a:p>
        </p:txBody>
      </p:sp>
      <p:sp>
        <p:nvSpPr>
          <p:cNvPr id="312" name="Google Shape;312;p5"/>
          <p:cNvSpPr/>
          <p:nvPr/>
        </p:nvSpPr>
        <p:spPr>
          <a:xfrm>
            <a:off x="6019800" y="415290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"/>
          <p:cNvSpPr/>
          <p:nvPr/>
        </p:nvSpPr>
        <p:spPr>
          <a:xfrm>
            <a:off x="6048375" y="414337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14" name="Google Shape;314;p5"/>
          <p:cNvSpPr/>
          <p:nvPr/>
        </p:nvSpPr>
        <p:spPr>
          <a:xfrm>
            <a:off x="6305550" y="413385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Connect Telegram from web app</a:t>
            </a:r>
            <a:endParaRPr/>
          </a:p>
        </p:txBody>
      </p:sp>
      <p:sp>
        <p:nvSpPr>
          <p:cNvPr id="315" name="Google Shape;315;p5"/>
          <p:cNvSpPr/>
          <p:nvPr/>
        </p:nvSpPr>
        <p:spPr>
          <a:xfrm>
            <a:off x="6019800" y="455295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"/>
          <p:cNvSpPr/>
          <p:nvPr/>
        </p:nvSpPr>
        <p:spPr>
          <a:xfrm>
            <a:off x="6048375" y="454342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6305550" y="453390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Receive proof-backed signal</a:t>
            </a:r>
            <a:endParaRPr/>
          </a:p>
        </p:txBody>
      </p:sp>
      <p:sp>
        <p:nvSpPr>
          <p:cNvPr id="318" name="Google Shape;318;p5"/>
          <p:cNvSpPr/>
          <p:nvPr/>
        </p:nvSpPr>
        <p:spPr>
          <a:xfrm>
            <a:off x="6019800" y="495300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6048375" y="494347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20" name="Google Shape;320;p5"/>
          <p:cNvSpPr/>
          <p:nvPr/>
        </p:nvSpPr>
        <p:spPr>
          <a:xfrm>
            <a:off x="6305550" y="493395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Open proof transaction</a:t>
            </a: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6019800" y="535305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"/>
          <p:cNvSpPr/>
          <p:nvPr/>
        </p:nvSpPr>
        <p:spPr>
          <a:xfrm>
            <a:off x="6048375" y="534352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23" name="Google Shape;323;p5"/>
          <p:cNvSpPr/>
          <p:nvPr/>
        </p:nvSpPr>
        <p:spPr>
          <a:xfrm>
            <a:off x="6305550" y="533400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Watch reputation over 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6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6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6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6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6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6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6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6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6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6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6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6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6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6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6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6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6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6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6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6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6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6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6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6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6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6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6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6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6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6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6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6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6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3" name="Google Shape;363;p6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6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WHAT WE BUILT</a:t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/>
          </a:p>
        </p:txBody>
      </p:sp>
      <p:sp>
        <p:nvSpPr>
          <p:cNvPr id="366" name="Google Shape;366;p6"/>
          <p:cNvSpPr/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BUILT STATUS</a:t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685800" y="876300"/>
            <a:ext cx="6191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A working proof-backed signal lifecycle.</a:t>
            </a:r>
            <a:endParaRPr/>
          </a:p>
        </p:txBody>
      </p:sp>
      <p:sp>
        <p:nvSpPr>
          <p:cNvPr id="368" name="Google Shape;368;p6"/>
          <p:cNvSpPr/>
          <p:nvPr/>
        </p:nvSpPr>
        <p:spPr>
          <a:xfrm>
            <a:off x="704850" y="194310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This is more than a UI mockup: the commit and resolve flow is implemented around a Mantle Sepolia SignalRegistry.</a:t>
            </a:r>
            <a:endParaRPr/>
          </a:p>
        </p:txBody>
      </p:sp>
      <p:sp>
        <p:nvSpPr>
          <p:cNvPr id="369" name="Google Shape;369;p6"/>
          <p:cNvSpPr/>
          <p:nvPr/>
        </p:nvSpPr>
        <p:spPr>
          <a:xfrm>
            <a:off x="6496050" y="1752600"/>
            <a:ext cx="4515000" cy="2628900"/>
          </a:xfrm>
          <a:prstGeom prst="roundRect">
            <a:avLst>
              <a:gd fmla="val 6522" name="adj"/>
            </a:avLst>
          </a:prstGeom>
          <a:solidFill>
            <a:srgbClr val="050807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6"/>
          <p:cNvPicPr preferRelativeResize="0"/>
          <p:nvPr/>
        </p:nvPicPr>
        <p:blipFill rotWithShape="1">
          <a:blip r:embed="rId3">
            <a:alphaModFix/>
          </a:blip>
          <a:srcRect b="170" l="0" r="0" t="170"/>
          <a:stretch/>
        </p:blipFill>
        <p:spPr>
          <a:xfrm>
            <a:off x="6572250" y="1905000"/>
            <a:ext cx="4362600" cy="2476500"/>
          </a:xfrm>
          <a:prstGeom prst="roundRect">
            <a:avLst>
              <a:gd fmla="val 5385" name="adj"/>
            </a:avLst>
          </a:prstGeom>
          <a:noFill/>
          <a:ln>
            <a:noFill/>
          </a:ln>
        </p:spPr>
      </p:pic>
      <p:sp>
        <p:nvSpPr>
          <p:cNvPr id="371" name="Google Shape;371;p6"/>
          <p:cNvSpPr/>
          <p:nvPr/>
        </p:nvSpPr>
        <p:spPr>
          <a:xfrm>
            <a:off x="876300" y="316230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6"/>
          <p:cNvSpPr/>
          <p:nvPr/>
        </p:nvSpPr>
        <p:spPr>
          <a:xfrm>
            <a:off x="904875" y="315277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73" name="Google Shape;373;p6"/>
          <p:cNvSpPr/>
          <p:nvPr/>
        </p:nvSpPr>
        <p:spPr>
          <a:xfrm>
            <a:off x="1162050" y="314325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SignalRegistry smart contract on Mantle Sepolia</a:t>
            </a:r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876300" y="356235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"/>
          <p:cNvSpPr/>
          <p:nvPr/>
        </p:nvSpPr>
        <p:spPr>
          <a:xfrm>
            <a:off x="904875" y="355282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76" name="Google Shape;376;p6"/>
          <p:cNvSpPr/>
          <p:nvPr/>
        </p:nvSpPr>
        <p:spPr>
          <a:xfrm>
            <a:off x="1162050" y="354330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Backend agent flow + PostgreSQL/Neon persistence</a:t>
            </a:r>
            <a:endParaRPr/>
          </a:p>
        </p:txBody>
      </p:sp>
      <p:sp>
        <p:nvSpPr>
          <p:cNvPr id="377" name="Google Shape;377;p6"/>
          <p:cNvSpPr/>
          <p:nvPr/>
        </p:nvSpPr>
        <p:spPr>
          <a:xfrm>
            <a:off x="876300" y="396240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"/>
          <p:cNvSpPr/>
          <p:nvPr/>
        </p:nvSpPr>
        <p:spPr>
          <a:xfrm>
            <a:off x="904875" y="395287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79" name="Google Shape;379;p6"/>
          <p:cNvSpPr/>
          <p:nvPr/>
        </p:nvSpPr>
        <p:spPr>
          <a:xfrm>
            <a:off x="1162050" y="394335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Next.js dashboard, verification page, reputation page</a:t>
            </a:r>
            <a:endParaRPr/>
          </a:p>
        </p:txBody>
      </p:sp>
      <p:sp>
        <p:nvSpPr>
          <p:cNvPr id="380" name="Google Shape;380;p6"/>
          <p:cNvSpPr/>
          <p:nvPr/>
        </p:nvSpPr>
        <p:spPr>
          <a:xfrm>
            <a:off x="876300" y="436245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6"/>
          <p:cNvSpPr/>
          <p:nvPr/>
        </p:nvSpPr>
        <p:spPr>
          <a:xfrm>
            <a:off x="904875" y="435292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82" name="Google Shape;382;p6"/>
          <p:cNvSpPr/>
          <p:nvPr/>
        </p:nvSpPr>
        <p:spPr>
          <a:xfrm>
            <a:off x="1162050" y="434340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Telegram bot, subscriptions, web-to-Telegram connect flow</a:t>
            </a:r>
            <a:endParaRPr/>
          </a:p>
        </p:txBody>
      </p:sp>
      <p:sp>
        <p:nvSpPr>
          <p:cNvPr id="383" name="Google Shape;383;p6"/>
          <p:cNvSpPr/>
          <p:nvPr/>
        </p:nvSpPr>
        <p:spPr>
          <a:xfrm>
            <a:off x="876300" y="476250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"/>
          <p:cNvSpPr/>
          <p:nvPr/>
        </p:nvSpPr>
        <p:spPr>
          <a:xfrm>
            <a:off x="904875" y="475297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85" name="Google Shape;385;p6"/>
          <p:cNvSpPr/>
          <p:nvPr/>
        </p:nvSpPr>
        <p:spPr>
          <a:xfrm>
            <a:off x="1162050" y="474345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Test alerts without gas + on-chain signal resolution</a:t>
            </a:r>
            <a:endParaRPr/>
          </a:p>
        </p:txBody>
      </p:sp>
      <p:sp>
        <p:nvSpPr>
          <p:cNvPr id="386" name="Google Shape;386;p6"/>
          <p:cNvSpPr/>
          <p:nvPr/>
        </p:nvSpPr>
        <p:spPr>
          <a:xfrm>
            <a:off x="6572250" y="4800600"/>
            <a:ext cx="4362600" cy="762000"/>
          </a:xfrm>
          <a:prstGeom prst="roundRect">
            <a:avLst>
              <a:gd fmla="val 17500" name="adj"/>
            </a:avLst>
          </a:prstGeom>
          <a:solidFill>
            <a:srgbClr val="0B211A"/>
          </a:solidFill>
          <a:ln cap="flat" cmpd="sng" w="9525">
            <a:solidFill>
              <a:srgbClr val="00E0A4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6"/>
          <p:cNvSpPr/>
          <p:nvPr/>
        </p:nvSpPr>
        <p:spPr>
          <a:xfrm>
            <a:off x="6800850" y="4972050"/>
            <a:ext cx="1047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CONTRACT</a:t>
            </a:r>
            <a:endParaRPr/>
          </a:p>
        </p:txBody>
      </p:sp>
      <p:sp>
        <p:nvSpPr>
          <p:cNvPr id="388" name="Google Shape;388;p6"/>
          <p:cNvSpPr/>
          <p:nvPr/>
        </p:nvSpPr>
        <p:spPr>
          <a:xfrm>
            <a:off x="6800850" y="5219700"/>
            <a:ext cx="385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5F7F4"/>
                </a:solidFill>
                <a:latin typeface="Consolas"/>
                <a:ea typeface="Consolas"/>
                <a:cs typeface="Consolas"/>
                <a:sym typeface="Consolas"/>
              </a:rPr>
              <a:t>0x1aB929e6c826A622355bA4AE241001B1C839a0D4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7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7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7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7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7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7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7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7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7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7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7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7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7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7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7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7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7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7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7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7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7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7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7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7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7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7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7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7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7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7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7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7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7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8" name="Google Shape;428;p7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7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PROOF MODEL</a:t>
            </a:r>
            <a:endParaRPr/>
          </a:p>
        </p:txBody>
      </p:sp>
      <p:sp>
        <p:nvSpPr>
          <p:cNvPr id="430" name="Google Shape;430;p7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PROOF MODEL</a:t>
            </a:r>
            <a:endParaRPr/>
          </a:p>
        </p:txBody>
      </p:sp>
      <p:sp>
        <p:nvSpPr>
          <p:cNvPr id="432" name="Google Shape;432;p7"/>
          <p:cNvSpPr/>
          <p:nvPr/>
        </p:nvSpPr>
        <p:spPr>
          <a:xfrm>
            <a:off x="685800" y="876300"/>
            <a:ext cx="6191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What goes on-chain vs off-chain.</a:t>
            </a:r>
            <a:endParaRPr/>
          </a:p>
        </p:txBody>
      </p:sp>
      <p:sp>
        <p:nvSpPr>
          <p:cNvPr id="433" name="Google Shape;433;p7"/>
          <p:cNvSpPr/>
          <p:nvPr/>
        </p:nvSpPr>
        <p:spPr>
          <a:xfrm>
            <a:off x="704850" y="194310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The chain stores the accountability core. Neon stores rich context for verification and product UX.</a:t>
            </a:r>
            <a:endParaRPr/>
          </a:p>
        </p:txBody>
      </p:sp>
      <p:sp>
        <p:nvSpPr>
          <p:cNvPr id="434" name="Google Shape;434;p7"/>
          <p:cNvSpPr/>
          <p:nvPr/>
        </p:nvSpPr>
        <p:spPr>
          <a:xfrm>
            <a:off x="1104900" y="3067050"/>
            <a:ext cx="4438650" cy="2266950"/>
          </a:xfrm>
          <a:prstGeom prst="roundRect">
            <a:avLst>
              <a:gd fmla="val 7563" name="adj"/>
            </a:avLst>
          </a:prstGeom>
          <a:solidFill>
            <a:srgbClr val="0B1914"/>
          </a:solidFill>
          <a:ln cap="flat" cmpd="sng" w="9525">
            <a:solidFill>
              <a:srgbClr val="00E0A4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"/>
          <p:cNvSpPr/>
          <p:nvPr/>
        </p:nvSpPr>
        <p:spPr>
          <a:xfrm>
            <a:off x="6648450" y="3067050"/>
            <a:ext cx="4438650" cy="2266950"/>
          </a:xfrm>
          <a:prstGeom prst="roundRect">
            <a:avLst>
              <a:gd fmla="val 7563" name="adj"/>
            </a:avLst>
          </a:prstGeom>
          <a:solidFill>
            <a:srgbClr val="101412"/>
          </a:solidFill>
          <a:ln cap="flat" cmpd="sng" w="9525">
            <a:solidFill>
              <a:srgbClr val="FFFFFF">
                <a:alpha val="1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7"/>
          <p:cNvSpPr/>
          <p:nvPr/>
        </p:nvSpPr>
        <p:spPr>
          <a:xfrm>
            <a:off x="1409700" y="333375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ON-CHAIN</a:t>
            </a:r>
            <a:endParaRPr/>
          </a:p>
        </p:txBody>
      </p:sp>
      <p:sp>
        <p:nvSpPr>
          <p:cNvPr id="437" name="Google Shape;437;p7"/>
          <p:cNvSpPr/>
          <p:nvPr/>
        </p:nvSpPr>
        <p:spPr>
          <a:xfrm>
            <a:off x="1409700" y="3733800"/>
            <a:ext cx="3619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signal type · asset / pair · prediction · confidence · evaluation time · dataHash · reasoningHash · timestamp · outcome</a:t>
            </a:r>
            <a:endParaRPr/>
          </a:p>
        </p:txBody>
      </p:sp>
      <p:sp>
        <p:nvSpPr>
          <p:cNvPr id="438" name="Google Shape;438;p7"/>
          <p:cNvSpPr/>
          <p:nvPr/>
        </p:nvSpPr>
        <p:spPr>
          <a:xfrm>
            <a:off x="6953250" y="333375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OFF-CHAIN</a:t>
            </a:r>
            <a:endParaRPr/>
          </a:p>
        </p:txBody>
      </p:sp>
      <p:sp>
        <p:nvSpPr>
          <p:cNvPr id="439" name="Google Shape;439;p7"/>
          <p:cNvSpPr/>
          <p:nvPr/>
        </p:nvSpPr>
        <p:spPr>
          <a:xfrm>
            <a:off x="6953250" y="3733800"/>
            <a:ext cx="3524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source event · raw event JSON · AI explanation · dashboard metadata · Telegram subscriber data</a:t>
            </a:r>
            <a:endParaRPr/>
          </a:p>
        </p:txBody>
      </p:sp>
      <p:sp>
        <p:nvSpPr>
          <p:cNvPr id="440" name="Google Shape;440;p7"/>
          <p:cNvSpPr/>
          <p:nvPr/>
        </p:nvSpPr>
        <p:spPr>
          <a:xfrm>
            <a:off x="2876550" y="5562600"/>
            <a:ext cx="6438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6C45A"/>
                </a:solidFill>
                <a:latin typeface="Play"/>
                <a:ea typeface="Play"/>
                <a:cs typeface="Play"/>
                <a:sym typeface="Play"/>
              </a:rPr>
              <a:t>Receipts are public. Context stays inspectable.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6" name="Google Shape;446;p8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8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8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8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8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8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8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8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8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8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8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8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8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8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8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8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8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8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8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8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8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8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8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8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8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8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8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8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8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8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8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8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8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0" name="Google Shape;480;p8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8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REPUTATION</a:t>
            </a:r>
            <a:endParaRPr/>
          </a:p>
        </p:txBody>
      </p:sp>
      <p:sp>
        <p:nvSpPr>
          <p:cNvPr id="482" name="Google Shape;482;p8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REPUTATION</a:t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685800" y="876300"/>
            <a:ext cx="6191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The agent cannot hide bad calls.</a:t>
            </a:r>
            <a:endParaRPr/>
          </a:p>
        </p:txBody>
      </p:sp>
      <p:sp>
        <p:nvSpPr>
          <p:cNvPr id="485" name="Google Shape;485;p8"/>
          <p:cNvSpPr/>
          <p:nvPr/>
        </p:nvSpPr>
        <p:spPr>
          <a:xfrm>
            <a:off x="704850" y="194310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Every signal becomes Pending, Correct, Failed, or Inconclusive. Good calls help the agent. Bad calls stay visible too.</a:t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6400800" y="1028700"/>
            <a:ext cx="4610100" cy="2628900"/>
          </a:xfrm>
          <a:prstGeom prst="roundRect">
            <a:avLst>
              <a:gd fmla="val 6522" name="adj"/>
            </a:avLst>
          </a:prstGeom>
          <a:solidFill>
            <a:srgbClr val="050807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8"/>
          <p:cNvPicPr preferRelativeResize="0"/>
          <p:nvPr/>
        </p:nvPicPr>
        <p:blipFill rotWithShape="1">
          <a:blip r:embed="rId3">
            <a:alphaModFix/>
          </a:blip>
          <a:srcRect b="1235" l="0" r="0" t="1235"/>
          <a:stretch/>
        </p:blipFill>
        <p:spPr>
          <a:xfrm>
            <a:off x="6477000" y="1104900"/>
            <a:ext cx="4457700" cy="2476500"/>
          </a:xfrm>
          <a:prstGeom prst="roundRect">
            <a:avLst>
              <a:gd fmla="val 5385" name="adj"/>
            </a:avLst>
          </a:prstGeom>
          <a:noFill/>
          <a:ln>
            <a:noFill/>
          </a:ln>
        </p:spPr>
      </p:pic>
      <p:sp>
        <p:nvSpPr>
          <p:cNvPr id="488" name="Google Shape;488;p8"/>
          <p:cNvSpPr/>
          <p:nvPr/>
        </p:nvSpPr>
        <p:spPr>
          <a:xfrm>
            <a:off x="1009650" y="3143250"/>
            <a:ext cx="1428750" cy="1123950"/>
          </a:xfrm>
          <a:prstGeom prst="roundRect">
            <a:avLst>
              <a:gd fmla="val 8475" name="adj"/>
            </a:avLst>
          </a:prstGeom>
          <a:solidFill>
            <a:srgbClr val="0A0F0D"/>
          </a:solidFill>
          <a:ln cap="flat" cmpd="sng" w="9525">
            <a:solidFill>
              <a:srgbClr val="FFFFFF">
                <a:alpha val="862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219200" y="3352800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TOTAL SIGNALS</a:t>
            </a:r>
            <a:endParaRPr/>
          </a:p>
        </p:txBody>
      </p:sp>
      <p:sp>
        <p:nvSpPr>
          <p:cNvPr id="490" name="Google Shape;490;p8"/>
          <p:cNvSpPr/>
          <p:nvPr/>
        </p:nvSpPr>
        <p:spPr>
          <a:xfrm>
            <a:off x="1219200" y="3657600"/>
            <a:ext cx="1009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35</a:t>
            </a:r>
            <a:endParaRPr/>
          </a:p>
        </p:txBody>
      </p:sp>
      <p:sp>
        <p:nvSpPr>
          <p:cNvPr id="491" name="Google Shape;491;p8"/>
          <p:cNvSpPr/>
          <p:nvPr/>
        </p:nvSpPr>
        <p:spPr>
          <a:xfrm>
            <a:off x="2647950" y="3143250"/>
            <a:ext cx="1428750" cy="1123950"/>
          </a:xfrm>
          <a:prstGeom prst="roundRect">
            <a:avLst>
              <a:gd fmla="val 8475" name="adj"/>
            </a:avLst>
          </a:prstGeom>
          <a:solidFill>
            <a:srgbClr val="0A0F0D"/>
          </a:solidFill>
          <a:ln cap="flat" cmpd="sng" w="9525">
            <a:solidFill>
              <a:srgbClr val="FFFFFF">
                <a:alpha val="862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8"/>
          <p:cNvSpPr/>
          <p:nvPr/>
        </p:nvSpPr>
        <p:spPr>
          <a:xfrm>
            <a:off x="2857500" y="3352800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RESOLVED</a:t>
            </a:r>
            <a:endParaRPr/>
          </a:p>
        </p:txBody>
      </p:sp>
      <p:sp>
        <p:nvSpPr>
          <p:cNvPr id="493" name="Google Shape;493;p8"/>
          <p:cNvSpPr/>
          <p:nvPr/>
        </p:nvSpPr>
        <p:spPr>
          <a:xfrm>
            <a:off x="2857500" y="3657600"/>
            <a:ext cx="1009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E0A4"/>
                </a:solidFill>
                <a:latin typeface="Play"/>
                <a:ea typeface="Play"/>
                <a:cs typeface="Play"/>
                <a:sym typeface="Play"/>
              </a:rPr>
              <a:t>31</a:t>
            </a:r>
            <a:endParaRPr/>
          </a:p>
        </p:txBody>
      </p:sp>
      <p:sp>
        <p:nvSpPr>
          <p:cNvPr id="494" name="Google Shape;494;p8"/>
          <p:cNvSpPr/>
          <p:nvPr/>
        </p:nvSpPr>
        <p:spPr>
          <a:xfrm>
            <a:off x="4286250" y="3143250"/>
            <a:ext cx="1428750" cy="1123950"/>
          </a:xfrm>
          <a:prstGeom prst="roundRect">
            <a:avLst>
              <a:gd fmla="val 8475" name="adj"/>
            </a:avLst>
          </a:prstGeom>
          <a:solidFill>
            <a:srgbClr val="0A0F0D"/>
          </a:solidFill>
          <a:ln cap="flat" cmpd="sng" w="9525">
            <a:solidFill>
              <a:srgbClr val="FFFFFF">
                <a:alpha val="862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"/>
          <p:cNvSpPr/>
          <p:nvPr/>
        </p:nvSpPr>
        <p:spPr>
          <a:xfrm>
            <a:off x="4495800" y="3352800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endParaRPr/>
          </a:p>
        </p:txBody>
      </p:sp>
      <p:sp>
        <p:nvSpPr>
          <p:cNvPr id="496" name="Google Shape;496;p8"/>
          <p:cNvSpPr/>
          <p:nvPr/>
        </p:nvSpPr>
        <p:spPr>
          <a:xfrm>
            <a:off x="4495800" y="3657600"/>
            <a:ext cx="1009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6C45A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/>
          </a:p>
        </p:txBody>
      </p:sp>
      <p:sp>
        <p:nvSpPr>
          <p:cNvPr id="497" name="Google Shape;497;p8"/>
          <p:cNvSpPr/>
          <p:nvPr/>
        </p:nvSpPr>
        <p:spPr>
          <a:xfrm>
            <a:off x="1047750" y="47244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Correct</a:t>
            </a:r>
            <a:endParaRPr/>
          </a:p>
        </p:txBody>
      </p:sp>
      <p:sp>
        <p:nvSpPr>
          <p:cNvPr id="498" name="Google Shape;498;p8"/>
          <p:cNvSpPr/>
          <p:nvPr/>
        </p:nvSpPr>
        <p:spPr>
          <a:xfrm>
            <a:off x="2266950" y="4743450"/>
            <a:ext cx="3143250" cy="114300"/>
          </a:xfrm>
          <a:prstGeom prst="roundRect">
            <a:avLst>
              <a:gd fmla="val 50000" name="adj"/>
            </a:avLst>
          </a:prstGeom>
          <a:solidFill>
            <a:srgbClr val="FFFFFF">
              <a:alpha val="7058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"/>
          <p:cNvSpPr/>
          <p:nvPr/>
        </p:nvSpPr>
        <p:spPr>
          <a:xfrm>
            <a:off x="2266950" y="4743450"/>
            <a:ext cx="1571625" cy="114300"/>
          </a:xfrm>
          <a:prstGeom prst="roundRect">
            <a:avLst>
              <a:gd fmla="val 50000" name="adj"/>
            </a:avLst>
          </a:prstGeom>
          <a:solidFill>
            <a:srgbClr val="00E0A4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1047750" y="50101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Failed</a:t>
            </a:r>
            <a:endParaRPr/>
          </a:p>
        </p:txBody>
      </p:sp>
      <p:sp>
        <p:nvSpPr>
          <p:cNvPr id="501" name="Google Shape;501;p8"/>
          <p:cNvSpPr/>
          <p:nvPr/>
        </p:nvSpPr>
        <p:spPr>
          <a:xfrm>
            <a:off x="2266950" y="5029200"/>
            <a:ext cx="3143250" cy="114300"/>
          </a:xfrm>
          <a:prstGeom prst="roundRect">
            <a:avLst>
              <a:gd fmla="val 50000" name="adj"/>
            </a:avLst>
          </a:prstGeom>
          <a:solidFill>
            <a:srgbClr val="FFFFFF">
              <a:alpha val="7058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"/>
          <p:cNvSpPr/>
          <p:nvPr/>
        </p:nvSpPr>
        <p:spPr>
          <a:xfrm>
            <a:off x="2266950" y="5029200"/>
            <a:ext cx="471488" cy="114300"/>
          </a:xfrm>
          <a:prstGeom prst="roundRect">
            <a:avLst>
              <a:gd fmla="val 50000" name="adj"/>
            </a:avLst>
          </a:prstGeom>
          <a:solidFill>
            <a:srgbClr val="E76F51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8"/>
          <p:cNvSpPr/>
          <p:nvPr/>
        </p:nvSpPr>
        <p:spPr>
          <a:xfrm>
            <a:off x="1047750" y="52959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Inconclusive</a:t>
            </a:r>
            <a:endParaRPr/>
          </a:p>
        </p:txBody>
      </p:sp>
      <p:sp>
        <p:nvSpPr>
          <p:cNvPr id="504" name="Google Shape;504;p8"/>
          <p:cNvSpPr/>
          <p:nvPr/>
        </p:nvSpPr>
        <p:spPr>
          <a:xfrm>
            <a:off x="2266950" y="5314950"/>
            <a:ext cx="3143250" cy="114300"/>
          </a:xfrm>
          <a:prstGeom prst="roundRect">
            <a:avLst>
              <a:gd fmla="val 50000" name="adj"/>
            </a:avLst>
          </a:prstGeom>
          <a:solidFill>
            <a:srgbClr val="FFFFFF">
              <a:alpha val="7058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8"/>
          <p:cNvSpPr/>
          <p:nvPr/>
        </p:nvSpPr>
        <p:spPr>
          <a:xfrm>
            <a:off x="2266950" y="5314950"/>
            <a:ext cx="408623" cy="114300"/>
          </a:xfrm>
          <a:prstGeom prst="roundRect">
            <a:avLst>
              <a:gd fmla="val 50000" name="adj"/>
            </a:avLst>
          </a:prstGeom>
          <a:solidFill>
            <a:srgbClr val="F5B8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8"/>
          <p:cNvSpPr/>
          <p:nvPr/>
        </p:nvSpPr>
        <p:spPr>
          <a:xfrm>
            <a:off x="1047750" y="55816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A7B4AE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endParaRPr/>
          </a:p>
        </p:txBody>
      </p:sp>
      <p:sp>
        <p:nvSpPr>
          <p:cNvPr id="507" name="Google Shape;507;p8"/>
          <p:cNvSpPr/>
          <p:nvPr/>
        </p:nvSpPr>
        <p:spPr>
          <a:xfrm>
            <a:off x="2266950" y="5600700"/>
            <a:ext cx="3143250" cy="114300"/>
          </a:xfrm>
          <a:prstGeom prst="roundRect">
            <a:avLst>
              <a:gd fmla="val 50000" name="adj"/>
            </a:avLst>
          </a:prstGeom>
          <a:solidFill>
            <a:srgbClr val="FFFFFF">
              <a:alpha val="7058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8"/>
          <p:cNvSpPr/>
          <p:nvPr/>
        </p:nvSpPr>
        <p:spPr>
          <a:xfrm>
            <a:off x="2266950" y="5600700"/>
            <a:ext cx="691515" cy="114300"/>
          </a:xfrm>
          <a:prstGeom prst="roundRect">
            <a:avLst>
              <a:gd fmla="val 50000" name="adj"/>
            </a:avLst>
          </a:prstGeom>
          <a:solidFill>
            <a:srgbClr val="E6C45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4" name="Google Shape;514;p9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9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9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9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9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9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9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9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9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9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9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9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6" name="Google Shape;526;p9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7" name="Google Shape;527;p9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8" name="Google Shape;528;p9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9" name="Google Shape;529;p9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9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9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9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9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9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9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9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9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9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9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9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9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9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9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9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9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p9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8" name="Google Shape;548;p9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9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CURRENT STATUS</a:t>
            </a:r>
            <a:endParaRPr/>
          </a:p>
        </p:txBody>
      </p:sp>
      <p:sp>
        <p:nvSpPr>
          <p:cNvPr id="550" name="Google Shape;550;p9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/>
          </a:p>
        </p:txBody>
      </p:sp>
      <p:sp>
        <p:nvSpPr>
          <p:cNvPr id="551" name="Google Shape;551;p9"/>
          <p:cNvSpPr/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CURRENT STATUS</a:t>
            </a:r>
            <a:endParaRPr/>
          </a:p>
        </p:txBody>
      </p:sp>
      <p:sp>
        <p:nvSpPr>
          <p:cNvPr id="552" name="Google Shape;552;p9"/>
          <p:cNvSpPr/>
          <p:nvPr/>
        </p:nvSpPr>
        <p:spPr>
          <a:xfrm>
            <a:off x="685800" y="876300"/>
            <a:ext cx="6191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Working on Mantle Sepolia Testnet.</a:t>
            </a:r>
            <a:endParaRPr/>
          </a:p>
        </p:txBody>
      </p:sp>
      <p:sp>
        <p:nvSpPr>
          <p:cNvPr id="553" name="Google Shape;553;p9"/>
          <p:cNvSpPr/>
          <p:nvPr/>
        </p:nvSpPr>
        <p:spPr>
          <a:xfrm>
            <a:off x="704850" y="194310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The demo path is clear: create a signal, open the proof tx, inspect hashes and source event, then resolve and watch reputation change.</a:t>
            </a:r>
            <a:endParaRPr/>
          </a:p>
        </p:txBody>
      </p:sp>
      <p:sp>
        <p:nvSpPr>
          <p:cNvPr id="554" name="Google Shape;554;p9"/>
          <p:cNvSpPr/>
          <p:nvPr/>
        </p:nvSpPr>
        <p:spPr>
          <a:xfrm>
            <a:off x="857250" y="304800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9"/>
          <p:cNvSpPr/>
          <p:nvPr/>
        </p:nvSpPr>
        <p:spPr>
          <a:xfrm>
            <a:off x="885825" y="303847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56" name="Google Shape;556;p9"/>
          <p:cNvSpPr/>
          <p:nvPr/>
        </p:nvSpPr>
        <p:spPr>
          <a:xfrm>
            <a:off x="1143000" y="302895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SignalRegistry deployed on Mantle Sepolia</a:t>
            </a:r>
            <a:endParaRPr/>
          </a:p>
        </p:txBody>
      </p:sp>
      <p:sp>
        <p:nvSpPr>
          <p:cNvPr id="557" name="Google Shape;557;p9"/>
          <p:cNvSpPr/>
          <p:nvPr/>
        </p:nvSpPr>
        <p:spPr>
          <a:xfrm>
            <a:off x="857250" y="3400425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9"/>
          <p:cNvSpPr/>
          <p:nvPr/>
        </p:nvSpPr>
        <p:spPr>
          <a:xfrm>
            <a:off x="885825" y="339090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59" name="Google Shape;559;p9"/>
          <p:cNvSpPr/>
          <p:nvPr/>
        </p:nvSpPr>
        <p:spPr>
          <a:xfrm>
            <a:off x="1143000" y="338137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Backend creates proof-backed signals and commits on-chain</a:t>
            </a:r>
            <a:endParaRPr/>
          </a:p>
        </p:txBody>
      </p:sp>
      <p:sp>
        <p:nvSpPr>
          <p:cNvPr id="560" name="Google Shape;560;p9"/>
          <p:cNvSpPr/>
          <p:nvPr/>
        </p:nvSpPr>
        <p:spPr>
          <a:xfrm>
            <a:off x="857250" y="375285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9"/>
          <p:cNvSpPr/>
          <p:nvPr/>
        </p:nvSpPr>
        <p:spPr>
          <a:xfrm>
            <a:off x="885825" y="374332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62" name="Google Shape;562;p9"/>
          <p:cNvSpPr/>
          <p:nvPr/>
        </p:nvSpPr>
        <p:spPr>
          <a:xfrm>
            <a:off x="1143000" y="373380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Signals stored in Neon/PostgreSQL</a:t>
            </a:r>
            <a:endParaRPr/>
          </a:p>
        </p:txBody>
      </p:sp>
      <p:sp>
        <p:nvSpPr>
          <p:cNvPr id="563" name="Google Shape;563;p9"/>
          <p:cNvSpPr/>
          <p:nvPr/>
        </p:nvSpPr>
        <p:spPr>
          <a:xfrm>
            <a:off x="857250" y="4105275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9"/>
          <p:cNvSpPr/>
          <p:nvPr/>
        </p:nvSpPr>
        <p:spPr>
          <a:xfrm>
            <a:off x="885825" y="409575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65" name="Google Shape;565;p9"/>
          <p:cNvSpPr/>
          <p:nvPr/>
        </p:nvSpPr>
        <p:spPr>
          <a:xfrm>
            <a:off x="1143000" y="4086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Dashboard shows runtime, signals, proof links, reputation</a:t>
            </a:r>
            <a:endParaRPr/>
          </a:p>
        </p:txBody>
      </p:sp>
      <p:sp>
        <p:nvSpPr>
          <p:cNvPr id="566" name="Google Shape;566;p9"/>
          <p:cNvSpPr/>
          <p:nvPr/>
        </p:nvSpPr>
        <p:spPr>
          <a:xfrm>
            <a:off x="857250" y="4457700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9"/>
          <p:cNvSpPr/>
          <p:nvPr/>
        </p:nvSpPr>
        <p:spPr>
          <a:xfrm>
            <a:off x="885825" y="4448175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68" name="Google Shape;568;p9"/>
          <p:cNvSpPr/>
          <p:nvPr/>
        </p:nvSpPr>
        <p:spPr>
          <a:xfrm>
            <a:off x="1143000" y="443865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Signal pages show source event, reasoningHash, dataHash, tx hashes</a:t>
            </a:r>
            <a:endParaRPr/>
          </a:p>
        </p:txBody>
      </p:sp>
      <p:sp>
        <p:nvSpPr>
          <p:cNvPr id="569" name="Google Shape;569;p9"/>
          <p:cNvSpPr/>
          <p:nvPr/>
        </p:nvSpPr>
        <p:spPr>
          <a:xfrm>
            <a:off x="857250" y="4810125"/>
            <a:ext cx="171450" cy="17145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9"/>
          <p:cNvSpPr/>
          <p:nvPr/>
        </p:nvSpPr>
        <p:spPr>
          <a:xfrm>
            <a:off x="885825" y="480060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5080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71" name="Google Shape;571;p9"/>
          <p:cNvSpPr/>
          <p:nvPr/>
        </p:nvSpPr>
        <p:spPr>
          <a:xfrm>
            <a:off x="1143000" y="479107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Telegram supports alerts, subscriptions, lookup, reputation</a:t>
            </a:r>
            <a:endParaRPr/>
          </a:p>
        </p:txBody>
      </p:sp>
      <p:sp>
        <p:nvSpPr>
          <p:cNvPr id="572" name="Google Shape;572;p9"/>
          <p:cNvSpPr/>
          <p:nvPr/>
        </p:nvSpPr>
        <p:spPr>
          <a:xfrm>
            <a:off x="6781800" y="1009650"/>
            <a:ext cx="4152900" cy="2438400"/>
          </a:xfrm>
          <a:prstGeom prst="roundRect">
            <a:avLst>
              <a:gd fmla="val 7031" name="adj"/>
            </a:avLst>
          </a:prstGeom>
          <a:solidFill>
            <a:srgbClr val="050807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p9"/>
          <p:cNvPicPr preferRelativeResize="0"/>
          <p:nvPr/>
        </p:nvPicPr>
        <p:blipFill rotWithShape="1">
          <a:blip r:embed="rId3">
            <a:alphaModFix/>
          </a:blip>
          <a:srcRect b="0" l="158" r="158" t="0"/>
          <a:stretch/>
        </p:blipFill>
        <p:spPr>
          <a:xfrm>
            <a:off x="6858000" y="1085850"/>
            <a:ext cx="4000500" cy="2286000"/>
          </a:xfrm>
          <a:prstGeom prst="roundRect">
            <a:avLst>
              <a:gd fmla="val 5833" name="adj"/>
            </a:avLst>
          </a:prstGeom>
          <a:noFill/>
          <a:ln>
            <a:noFill/>
          </a:ln>
        </p:spPr>
      </p:pic>
      <p:sp>
        <p:nvSpPr>
          <p:cNvPr id="574" name="Google Shape;574;p9"/>
          <p:cNvSpPr/>
          <p:nvPr/>
        </p:nvSpPr>
        <p:spPr>
          <a:xfrm>
            <a:off x="6858000" y="3867150"/>
            <a:ext cx="4000500" cy="1242600"/>
          </a:xfrm>
          <a:prstGeom prst="roundRect">
            <a:avLst>
              <a:gd fmla="val 15909" name="adj"/>
            </a:avLst>
          </a:prstGeom>
          <a:solidFill>
            <a:srgbClr val="101412"/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9"/>
          <p:cNvSpPr/>
          <p:nvPr/>
        </p:nvSpPr>
        <p:spPr>
          <a:xfrm>
            <a:off x="7067550" y="40767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GitHub</a:t>
            </a:r>
            <a:endParaRPr/>
          </a:p>
        </p:txBody>
      </p:sp>
      <p:sp>
        <p:nvSpPr>
          <p:cNvPr id="576" name="Google Shape;576;p9"/>
          <p:cNvSpPr/>
          <p:nvPr/>
        </p:nvSpPr>
        <p:spPr>
          <a:xfrm>
            <a:off x="7829550" y="4076700"/>
            <a:ext cx="262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F5F7F4"/>
                </a:solidFill>
                <a:latin typeface="Consolas"/>
                <a:ea typeface="Consolas"/>
                <a:cs typeface="Consolas"/>
                <a:sym typeface="Consolas"/>
              </a:rPr>
              <a:t>github.com/Irine7/alpha-proof</a:t>
            </a:r>
            <a:endParaRPr/>
          </a:p>
        </p:txBody>
      </p:sp>
      <p:sp>
        <p:nvSpPr>
          <p:cNvPr id="577" name="Google Shape;577;p9"/>
          <p:cNvSpPr/>
          <p:nvPr/>
        </p:nvSpPr>
        <p:spPr>
          <a:xfrm>
            <a:off x="7067550" y="440055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Telegram</a:t>
            </a:r>
            <a:endParaRPr/>
          </a:p>
        </p:txBody>
      </p:sp>
      <p:sp>
        <p:nvSpPr>
          <p:cNvPr id="578" name="Google Shape;578;p9"/>
          <p:cNvSpPr/>
          <p:nvPr/>
        </p:nvSpPr>
        <p:spPr>
          <a:xfrm>
            <a:off x="7829550" y="4400550"/>
            <a:ext cx="262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F5F7F4"/>
                </a:solidFill>
                <a:latin typeface="Consolas"/>
                <a:ea typeface="Consolas"/>
                <a:cs typeface="Consolas"/>
                <a:sym typeface="Consolas"/>
              </a:rPr>
              <a:t>t.me/alpha_proof_bot</a:t>
            </a:r>
            <a:endParaRPr/>
          </a:p>
        </p:txBody>
      </p:sp>
      <p:sp>
        <p:nvSpPr>
          <p:cNvPr id="579" name="Google Shape;579;p9"/>
          <p:cNvSpPr/>
          <p:nvPr/>
        </p:nvSpPr>
        <p:spPr>
          <a:xfrm>
            <a:off x="7067550" y="47244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Live demo</a:t>
            </a:r>
            <a:endParaRPr/>
          </a:p>
        </p:txBody>
      </p:sp>
      <p:sp>
        <p:nvSpPr>
          <p:cNvPr id="580" name="Google Shape;580;p9"/>
          <p:cNvSpPr/>
          <p:nvPr/>
        </p:nvSpPr>
        <p:spPr>
          <a:xfrm>
            <a:off x="7829550" y="4724400"/>
            <a:ext cx="262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F5F7F4"/>
                </a:solidFill>
                <a:latin typeface="Consolas"/>
                <a:ea typeface="Consolas"/>
                <a:cs typeface="Consolas"/>
                <a:sym typeface="Consolas"/>
              </a:rPr>
              <a:t>https://vercel/alpha-proof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7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6" name="Google Shape;586;p10"/>
          <p:cNvCxnSpPr/>
          <p:nvPr/>
        </p:nvCxnSpPr>
        <p:spPr>
          <a:xfrm>
            <a:off x="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10"/>
          <p:cNvCxnSpPr/>
          <p:nvPr/>
        </p:nvCxnSpPr>
        <p:spPr>
          <a:xfrm>
            <a:off x="609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p10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p10"/>
          <p:cNvCxnSpPr/>
          <p:nvPr/>
        </p:nvCxnSpPr>
        <p:spPr>
          <a:xfrm>
            <a:off x="1828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0" name="Google Shape;590;p10"/>
          <p:cNvCxnSpPr/>
          <p:nvPr/>
        </p:nvCxnSpPr>
        <p:spPr>
          <a:xfrm>
            <a:off x="2438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p10"/>
          <p:cNvCxnSpPr/>
          <p:nvPr/>
        </p:nvCxnSpPr>
        <p:spPr>
          <a:xfrm>
            <a:off x="3048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2" name="Google Shape;592;p10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p10"/>
          <p:cNvCxnSpPr/>
          <p:nvPr/>
        </p:nvCxnSpPr>
        <p:spPr>
          <a:xfrm>
            <a:off x="426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10"/>
          <p:cNvCxnSpPr/>
          <p:nvPr/>
        </p:nvCxnSpPr>
        <p:spPr>
          <a:xfrm>
            <a:off x="487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10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10"/>
          <p:cNvCxnSpPr/>
          <p:nvPr/>
        </p:nvCxnSpPr>
        <p:spPr>
          <a:xfrm>
            <a:off x="6096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10"/>
          <p:cNvCxnSpPr/>
          <p:nvPr/>
        </p:nvCxnSpPr>
        <p:spPr>
          <a:xfrm>
            <a:off x="6705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10"/>
          <p:cNvCxnSpPr/>
          <p:nvPr/>
        </p:nvCxnSpPr>
        <p:spPr>
          <a:xfrm>
            <a:off x="7315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10"/>
          <p:cNvCxnSpPr/>
          <p:nvPr/>
        </p:nvCxnSpPr>
        <p:spPr>
          <a:xfrm>
            <a:off x="7924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10"/>
          <p:cNvCxnSpPr/>
          <p:nvPr/>
        </p:nvCxnSpPr>
        <p:spPr>
          <a:xfrm>
            <a:off x="8534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10"/>
          <p:cNvCxnSpPr/>
          <p:nvPr/>
        </p:nvCxnSpPr>
        <p:spPr>
          <a:xfrm>
            <a:off x="9144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0"/>
          <p:cNvCxnSpPr/>
          <p:nvPr/>
        </p:nvCxnSpPr>
        <p:spPr>
          <a:xfrm>
            <a:off x="9753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0"/>
          <p:cNvCxnSpPr/>
          <p:nvPr/>
        </p:nvCxnSpPr>
        <p:spPr>
          <a:xfrm>
            <a:off x="10363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0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0"/>
          <p:cNvCxnSpPr/>
          <p:nvPr/>
        </p:nvCxnSpPr>
        <p:spPr>
          <a:xfrm>
            <a:off x="1158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0"/>
          <p:cNvCxnSpPr/>
          <p:nvPr/>
        </p:nvCxnSpPr>
        <p:spPr>
          <a:xfrm>
            <a:off x="121920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0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0"/>
          <p:cNvCxnSpPr/>
          <p:nvPr/>
        </p:nvCxnSpPr>
        <p:spPr>
          <a:xfrm>
            <a:off x="0" y="609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0"/>
          <p:cNvCxnSpPr/>
          <p:nvPr/>
        </p:nvCxnSpPr>
        <p:spPr>
          <a:xfrm>
            <a:off x="0" y="1219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0"/>
          <p:cNvCxnSpPr/>
          <p:nvPr/>
        </p:nvCxnSpPr>
        <p:spPr>
          <a:xfrm>
            <a:off x="0" y="182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0"/>
          <p:cNvCxnSpPr/>
          <p:nvPr/>
        </p:nvCxnSpPr>
        <p:spPr>
          <a:xfrm>
            <a:off x="0" y="2438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10"/>
          <p:cNvCxnSpPr/>
          <p:nvPr/>
        </p:nvCxnSpPr>
        <p:spPr>
          <a:xfrm>
            <a:off x="0" y="3048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10"/>
          <p:cNvCxnSpPr/>
          <p:nvPr/>
        </p:nvCxnSpPr>
        <p:spPr>
          <a:xfrm>
            <a:off x="0" y="3657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10"/>
          <p:cNvCxnSpPr/>
          <p:nvPr/>
        </p:nvCxnSpPr>
        <p:spPr>
          <a:xfrm>
            <a:off x="0" y="42672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10"/>
          <p:cNvCxnSpPr/>
          <p:nvPr/>
        </p:nvCxnSpPr>
        <p:spPr>
          <a:xfrm>
            <a:off x="0" y="4876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10"/>
          <p:cNvCxnSpPr/>
          <p:nvPr/>
        </p:nvCxnSpPr>
        <p:spPr>
          <a:xfrm>
            <a:off x="0" y="54864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10"/>
          <p:cNvCxnSpPr/>
          <p:nvPr/>
        </p:nvCxnSpPr>
        <p:spPr>
          <a:xfrm>
            <a:off x="0" y="60960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10"/>
          <p:cNvCxnSpPr/>
          <p:nvPr/>
        </p:nvCxnSpPr>
        <p:spPr>
          <a:xfrm>
            <a:off x="0" y="67056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31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07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0" name="Google Shape;620;p10"/>
          <p:cNvCxnSpPr/>
          <p:nvPr/>
        </p:nvCxnSpPr>
        <p:spPr>
          <a:xfrm>
            <a:off x="685800" y="619125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p10"/>
          <p:cNvSpPr/>
          <p:nvPr/>
        </p:nvSpPr>
        <p:spPr>
          <a:xfrm>
            <a:off x="685800" y="63436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VISION</a:t>
            </a:r>
            <a:endParaRPr/>
          </a:p>
        </p:txBody>
      </p:sp>
      <p:sp>
        <p:nvSpPr>
          <p:cNvPr id="622" name="Google Shape;622;p10"/>
          <p:cNvSpPr/>
          <p:nvPr/>
        </p:nvSpPr>
        <p:spPr>
          <a:xfrm>
            <a:off x="11068050" y="63055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/>
          </a:p>
        </p:txBody>
      </p:sp>
      <p:pic>
        <p:nvPicPr>
          <p:cNvPr id="623" name="Google Shape;6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1547" y="419038"/>
            <a:ext cx="3376201" cy="377202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0"/>
          <p:cNvSpPr/>
          <p:nvPr/>
        </p:nvSpPr>
        <p:spPr>
          <a:xfrm>
            <a:off x="685800" y="495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E0A4"/>
                </a:solidFill>
                <a:latin typeface="Consolas"/>
                <a:ea typeface="Consolas"/>
                <a:cs typeface="Consolas"/>
                <a:sym typeface="Consolas"/>
              </a:rPr>
              <a:t>VISION</a:t>
            </a:r>
            <a:endParaRPr/>
          </a:p>
        </p:txBody>
      </p:sp>
      <p:sp>
        <p:nvSpPr>
          <p:cNvPr id="625" name="Google Shape;625;p10"/>
          <p:cNvSpPr/>
          <p:nvPr/>
        </p:nvSpPr>
        <p:spPr>
          <a:xfrm>
            <a:off x="685800" y="876300"/>
            <a:ext cx="6191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4"/>
              </a:buClr>
              <a:buSzPts val="3225"/>
              <a:buFont typeface="Play"/>
              <a:buNone/>
            </a:pPr>
            <a:r>
              <a:rPr b="1" lang="en-US" sz="3225">
                <a:solidFill>
                  <a:srgbClr val="F5F7F4"/>
                </a:solidFill>
                <a:latin typeface="Play"/>
                <a:ea typeface="Play"/>
                <a:cs typeface="Play"/>
                <a:sym typeface="Play"/>
              </a:rPr>
              <a:t>A reputation layer for AI agents.</a:t>
            </a:r>
            <a:endParaRPr/>
          </a:p>
        </p:txBody>
      </p:sp>
      <p:sp>
        <p:nvSpPr>
          <p:cNvPr id="626" name="Google Shape;626;p10"/>
          <p:cNvSpPr/>
          <p:nvPr/>
        </p:nvSpPr>
        <p:spPr>
          <a:xfrm>
            <a:off x="704850" y="194310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7B4AE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A7B4AE"/>
                </a:solidFill>
                <a:latin typeface="Arial"/>
                <a:ea typeface="Arial"/>
                <a:cs typeface="Arial"/>
                <a:sym typeface="Arial"/>
              </a:rPr>
              <a:t>AlphaProof starts with market signals, but the idea is bigger: agents that influence decisions should have public track records.</a:t>
            </a:r>
            <a:endParaRPr/>
          </a:p>
        </p:txBody>
      </p:sp>
      <p:sp>
        <p:nvSpPr>
          <p:cNvPr id="627" name="Google Shape;627;p10"/>
          <p:cNvSpPr/>
          <p:nvPr/>
        </p:nvSpPr>
        <p:spPr>
          <a:xfrm>
            <a:off x="990600" y="3238500"/>
            <a:ext cx="3733800" cy="457200"/>
          </a:xfrm>
          <a:prstGeom prst="roundRect">
            <a:avLst>
              <a:gd fmla="val 25000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0"/>
          <p:cNvSpPr/>
          <p:nvPr/>
        </p:nvSpPr>
        <p:spPr>
          <a:xfrm>
            <a:off x="1200150" y="3362325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Mantle Mainnet deployment</a:t>
            </a:r>
            <a:endParaRPr/>
          </a:p>
        </p:txBody>
      </p:sp>
      <p:sp>
        <p:nvSpPr>
          <p:cNvPr id="629" name="Google Shape;629;p10"/>
          <p:cNvSpPr/>
          <p:nvPr/>
        </p:nvSpPr>
        <p:spPr>
          <a:xfrm>
            <a:off x="5257800" y="3238500"/>
            <a:ext cx="3733800" cy="457200"/>
          </a:xfrm>
          <a:prstGeom prst="roundRect">
            <a:avLst>
              <a:gd fmla="val 25000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0"/>
          <p:cNvSpPr/>
          <p:nvPr/>
        </p:nvSpPr>
        <p:spPr>
          <a:xfrm>
            <a:off x="5467350" y="3362325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Real AI provider integration</a:t>
            </a:r>
            <a:endParaRPr/>
          </a:p>
        </p:txBody>
      </p:sp>
      <p:sp>
        <p:nvSpPr>
          <p:cNvPr id="631" name="Google Shape;631;p10"/>
          <p:cNvSpPr/>
          <p:nvPr/>
        </p:nvSpPr>
        <p:spPr>
          <a:xfrm>
            <a:off x="990600" y="3924300"/>
            <a:ext cx="3733800" cy="457200"/>
          </a:xfrm>
          <a:prstGeom prst="roundRect">
            <a:avLst>
              <a:gd fmla="val 25000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0"/>
          <p:cNvSpPr/>
          <p:nvPr/>
        </p:nvSpPr>
        <p:spPr>
          <a:xfrm>
            <a:off x="1200150" y="4048125"/>
            <a:ext cx="3524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Live DEX, liquidity, whale, protocol adapters</a:t>
            </a:r>
            <a:endParaRPr/>
          </a:p>
        </p:txBody>
      </p:sp>
      <p:sp>
        <p:nvSpPr>
          <p:cNvPr id="633" name="Google Shape;633;p10"/>
          <p:cNvSpPr/>
          <p:nvPr/>
        </p:nvSpPr>
        <p:spPr>
          <a:xfrm>
            <a:off x="5257800" y="3924300"/>
            <a:ext cx="3733800" cy="457200"/>
          </a:xfrm>
          <a:prstGeom prst="roundRect">
            <a:avLst>
              <a:gd fmla="val 25000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0"/>
          <p:cNvSpPr/>
          <p:nvPr/>
        </p:nvSpPr>
        <p:spPr>
          <a:xfrm>
            <a:off x="5467350" y="4048125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Stronger outcome evaluation</a:t>
            </a:r>
            <a:endParaRPr/>
          </a:p>
        </p:txBody>
      </p:sp>
      <p:sp>
        <p:nvSpPr>
          <p:cNvPr id="635" name="Google Shape;635;p10"/>
          <p:cNvSpPr/>
          <p:nvPr/>
        </p:nvSpPr>
        <p:spPr>
          <a:xfrm>
            <a:off x="990600" y="4610100"/>
            <a:ext cx="3733800" cy="457200"/>
          </a:xfrm>
          <a:prstGeom prst="roundRect">
            <a:avLst>
              <a:gd fmla="val 25000" name="adj"/>
            </a:avLst>
          </a:prstGeom>
          <a:solidFill>
            <a:srgbClr val="0B211A"/>
          </a:solidFill>
          <a:ln cap="flat" cmpd="sng" w="9525">
            <a:solidFill>
              <a:srgbClr val="00E0A4">
                <a:alpha val="3333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0"/>
          <p:cNvSpPr/>
          <p:nvPr/>
        </p:nvSpPr>
        <p:spPr>
          <a:xfrm>
            <a:off x="1200150" y="4733925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E0A4"/>
                </a:solidFill>
                <a:latin typeface="Arial"/>
                <a:ea typeface="Arial"/>
                <a:cs typeface="Arial"/>
                <a:sym typeface="Arial"/>
              </a:rPr>
              <a:t>Agent identity / registry layer</a:t>
            </a:r>
            <a:endParaRPr/>
          </a:p>
        </p:txBody>
      </p:sp>
      <p:sp>
        <p:nvSpPr>
          <p:cNvPr id="637" name="Google Shape;637;p10"/>
          <p:cNvSpPr/>
          <p:nvPr/>
        </p:nvSpPr>
        <p:spPr>
          <a:xfrm>
            <a:off x="5257800" y="4610100"/>
            <a:ext cx="3733800" cy="457200"/>
          </a:xfrm>
          <a:prstGeom prst="roundRect">
            <a:avLst>
              <a:gd fmla="val 25000" name="adj"/>
            </a:avLst>
          </a:prstGeom>
          <a:solidFill>
            <a:srgbClr val="0D1411"/>
          </a:solidFill>
          <a:ln cap="flat" cmpd="sng" w="9525">
            <a:solidFill>
              <a:srgbClr val="FFFFFF">
                <a:alpha val="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0"/>
          <p:cNvSpPr/>
          <p:nvPr/>
        </p:nvSpPr>
        <p:spPr>
          <a:xfrm>
            <a:off x="5467350" y="4733925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5F7F4"/>
                </a:solidFill>
                <a:latin typeface="Arial"/>
                <a:ea typeface="Arial"/>
                <a:cs typeface="Arial"/>
                <a:sym typeface="Arial"/>
              </a:rPr>
              <a:t>Advanced reputation scoring</a:t>
            </a:r>
            <a:endParaRPr/>
          </a:p>
        </p:txBody>
      </p:sp>
      <p:sp>
        <p:nvSpPr>
          <p:cNvPr id="639" name="Google Shape;639;p10"/>
          <p:cNvSpPr/>
          <p:nvPr/>
        </p:nvSpPr>
        <p:spPr>
          <a:xfrm>
            <a:off x="685800" y="5619750"/>
            <a:ext cx="723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E6C45A"/>
                </a:solidFill>
                <a:latin typeface="Play"/>
                <a:ea typeface="Play"/>
                <a:cs typeface="Play"/>
                <a:sym typeface="Play"/>
              </a:rPr>
              <a:t>Trust the proof, not the prediction.</a:t>
            </a:r>
            <a:endParaRPr sz="1100"/>
          </a:p>
        </p:txBody>
      </p:sp>
      <p:sp>
        <p:nvSpPr>
          <p:cNvPr id="640" name="Google Shape;640;p10"/>
          <p:cNvSpPr/>
          <p:nvPr/>
        </p:nvSpPr>
        <p:spPr>
          <a:xfrm>
            <a:off x="7067550" y="57150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645F"/>
                </a:solidFill>
                <a:latin typeface="Consolas"/>
                <a:ea typeface="Consolas"/>
                <a:cs typeface="Consolas"/>
                <a:sym typeface="Consolas"/>
              </a:rPr>
              <a:t>Built by Irina Semichasova · solo full-stack &amp; blockchain developer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